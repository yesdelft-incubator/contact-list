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8288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E0A1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YESDelft-Incubator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33172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Contact List Comparison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29184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7CC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MYCF and the Talent List are pulled from PhantomBuster, compared with our Contact List, and turned into one report of new and known leads - and where to look when something goes wrong.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1655064" y="5084064"/>
            <a:ext cx="9326880" cy="0"/>
          </a:xfrm>
          <a:prstGeom prst="line">
            <a:avLst/>
          </a:prstGeom>
          <a:noFill/>
          <a:ln w="12700">
            <a:solidFill>
              <a:srgbClr val="C7CCE8"/>
            </a:solidFill>
            <a:prstDash val="dash"/>
          </a:ln>
        </p:spPr>
      </p:sp>
      <p:sp>
        <p:nvSpPr>
          <p:cNvPr id="6" name="Shape 4"/>
          <p:cNvSpPr/>
          <p:nvPr/>
        </p:nvSpPr>
        <p:spPr>
          <a:xfrm>
            <a:off x="1463040" y="4892040"/>
            <a:ext cx="384048" cy="384048"/>
          </a:xfrm>
          <a:prstGeom prst="ellipse">
            <a:avLst/>
          </a:prstGeom>
          <a:solidFill>
            <a:srgbClr val="E0A106"/>
          </a:solidFill>
          <a:ln w="12700">
            <a:solidFill>
              <a:srgbClr val="E0A10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5367528"/>
            <a:ext cx="2029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7CC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PhantomBuster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794760" y="4892040"/>
            <a:ext cx="384048" cy="384048"/>
          </a:xfrm>
          <a:prstGeom prst="ellipse">
            <a:avLst/>
          </a:prstGeom>
          <a:solidFill>
            <a:srgbClr val="6FA8DC"/>
          </a:solidFill>
          <a:ln w="12700">
            <a:solidFill>
              <a:srgbClr val="6FA8D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971800" y="5367528"/>
            <a:ext cx="2029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7CC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MYCF + Talent List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126480" y="4892040"/>
            <a:ext cx="384048" cy="384048"/>
          </a:xfrm>
          <a:prstGeom prst="ellipse">
            <a:avLst/>
          </a:prstGeom>
          <a:solidFill>
            <a:srgbClr val="8FCB9B"/>
          </a:solidFill>
          <a:ln w="12700">
            <a:solidFill>
              <a:srgbClr val="8FCB9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303520" y="5367528"/>
            <a:ext cx="2029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7CC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Contact List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458200" y="4892040"/>
            <a:ext cx="384048" cy="384048"/>
          </a:xfrm>
          <a:prstGeom prst="ellipse">
            <a:avLst/>
          </a:prstGeom>
          <a:solidFill>
            <a:srgbClr val="E2A6D9"/>
          </a:solidFill>
          <a:ln w="12700">
            <a:solidFill>
              <a:srgbClr val="E2A6D9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635240" y="5367528"/>
            <a:ext cx="2029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7CC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Comparison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0789920" y="4892040"/>
            <a:ext cx="384048" cy="384048"/>
          </a:xfrm>
          <a:prstGeom prst="ellipse">
            <a:avLst/>
          </a:prstGeom>
          <a:solidFill>
            <a:srgbClr val="F0806A"/>
          </a:solidFill>
          <a:ln w="12700">
            <a:solidFill>
              <a:srgbClr val="F0806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966960" y="5367528"/>
            <a:ext cx="2029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7CC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4747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0A1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OVERVIEW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58368"/>
            <a:ext cx="11155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pipeline, two steps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325880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B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 steps run in the same workflow, one after the other - the comparison always uses the freshest PhantomBuster data.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1368735" y="64465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02920" y="1783080"/>
            <a:ext cx="11185855" cy="86868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874520"/>
            <a:ext cx="54864" cy="685800"/>
          </a:xfrm>
          <a:prstGeom prst="rect">
            <a:avLst/>
          </a:prstGeom>
          <a:solidFill>
            <a:srgbClr val="E0A106"/>
          </a:solidFill>
          <a:ln w="12700">
            <a:solidFill>
              <a:srgbClr val="E0A10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" y="1783080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 · PhantomBuster export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3886200" y="1783080"/>
            <a:ext cx="1645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0A1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phantombuster/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5715000" y="1783080"/>
            <a:ext cx="57451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Downloads the latest results of four Phantoms and updates MYCF.xlsx, Talent List.xlsx and YES!Delft Linkedin Followers.xlsx.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02920" y="2816352"/>
            <a:ext cx="11185855" cy="86868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02920" y="2907792"/>
            <a:ext cx="54864" cy="685800"/>
          </a:xfrm>
          <a:prstGeom prst="rect">
            <a:avLst/>
          </a:prstGeom>
          <a:solidFill>
            <a:srgbClr val="8FCB9B"/>
          </a:solidFill>
          <a:ln w="12700">
            <a:solidFill>
              <a:srgbClr val="8FCB9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77240" y="2816352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hand · Contact List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3886200" y="2816352"/>
            <a:ext cx="1645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data/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5715000" y="2816352"/>
            <a:ext cx="57451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current contacts. Wouter uploads a new version when it changes - no script makes this file.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02920" y="3849624"/>
            <a:ext cx="11185855" cy="86868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02920" y="3941064"/>
            <a:ext cx="54864" cy="685800"/>
          </a:xfrm>
          <a:prstGeom prst="rect">
            <a:avLst/>
          </a:prstGeom>
          <a:solidFill>
            <a:srgbClr val="F0806A"/>
          </a:solidFill>
          <a:ln w="12700">
            <a:solidFill>
              <a:srgbClr val="F0806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77240" y="3849624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 · Comparison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3886200" y="3849624"/>
            <a:ext cx="1645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326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compare/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5715000" y="3849624"/>
            <a:ext cx="57451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Groups everyone in the three lists into real people and marks each lead as new or already known. → Contact_Comparison_Report.xlsx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02920" y="5129784"/>
            <a:ext cx="11185855" cy="54864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02920" y="5221224"/>
            <a:ext cx="54864" cy="365760"/>
          </a:xfrm>
          <a:prstGeom prst="rect">
            <a:avLst/>
          </a:prstGeom>
          <a:solidFill>
            <a:srgbClr val="6FA8DC"/>
          </a:solidFill>
          <a:ln w="12700">
            <a:solidFill>
              <a:srgbClr val="6FA8DC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77240" y="5129784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it runs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3886200" y="5129784"/>
            <a:ext cx="75739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day at 06:30 UTC · whenever a new Contact List (or code) is pushed · and by hand from the Actions tab.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502920" y="5907024"/>
            <a:ext cx="11185855" cy="45720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31520" y="5907024"/>
            <a:ext cx="107286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B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YES!Delft Linkedin Followers.xlsx is also produced by step 1, but only for Tableau - the comparison doesn't use it.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4747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0A1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GITHUB.COM/YESDELFT-INCUBATOR/CONTACT-LIST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58368"/>
            <a:ext cx="11155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What's in the repo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1368735" y="64465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1783080"/>
            <a:ext cx="11185855" cy="475488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874520"/>
            <a:ext cx="54864" cy="292608"/>
          </a:xfrm>
          <a:prstGeom prst="rect">
            <a:avLst/>
          </a:prstGeom>
          <a:solidFill>
            <a:srgbClr val="E0A106"/>
          </a:solidFill>
          <a:ln w="12700">
            <a:solidFill>
              <a:srgbClr val="E0A10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1783080"/>
            <a:ext cx="4663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.github/workflows/pipeline.yml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5623560" y="1783080"/>
            <a:ext cx="583661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one automation: export, then comparison, then save everything back into the repo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02920" y="2331720"/>
            <a:ext cx="11185855" cy="475488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2920" y="2423160"/>
            <a:ext cx="54864" cy="292608"/>
          </a:xfrm>
          <a:prstGeom prst="rect">
            <a:avLst/>
          </a:prstGeom>
          <a:solidFill>
            <a:srgbClr val="E0A106"/>
          </a:solidFill>
          <a:ln w="12700">
            <a:solidFill>
              <a:srgbClr val="E0A10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77240" y="2331720"/>
            <a:ext cx="4663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phantombuster/phantombuster_tableau_main.py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5623560" y="2331720"/>
            <a:ext cx="583661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1: the PhantomBuster export script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02920" y="2880360"/>
            <a:ext cx="11185855" cy="475488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02920" y="2971800"/>
            <a:ext cx="54864" cy="292608"/>
          </a:xfrm>
          <a:prstGeom prst="rect">
            <a:avLst/>
          </a:prstGeom>
          <a:solidFill>
            <a:srgbClr val="E0A106"/>
          </a:solidFill>
          <a:ln w="12700">
            <a:solidFill>
              <a:srgbClr val="E0A10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77240" y="2880360"/>
            <a:ext cx="4663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phantombuster/Mappings Final.xlsx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5623560" y="2880360"/>
            <a:ext cx="583661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Kept by hand: standard spellings for degrees and locations, used while cleaning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02920" y="3429000"/>
            <a:ext cx="11185855" cy="475488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02920" y="3520440"/>
            <a:ext cx="54864" cy="292608"/>
          </a:xfrm>
          <a:prstGeom prst="rect">
            <a:avLst/>
          </a:prstGeom>
          <a:solidFill>
            <a:srgbClr val="6FA8DC"/>
          </a:solidFill>
          <a:ln w="12700">
            <a:solidFill>
              <a:srgbClr val="6FA8DC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77240" y="3429000"/>
            <a:ext cx="4663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phantombuster/*.xlsx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5623560" y="3429000"/>
            <a:ext cx="583661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MYCF.xlsx, Talent List.xlsx, YES!Delft Linkedin Followers.xlsx - written by step 1, with history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02920" y="3977640"/>
            <a:ext cx="11185855" cy="475488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02920" y="4069080"/>
            <a:ext cx="54864" cy="292608"/>
          </a:xfrm>
          <a:prstGeom prst="rect">
            <a:avLst/>
          </a:prstGeom>
          <a:solidFill>
            <a:srgbClr val="8FCB9B"/>
          </a:solidFill>
          <a:ln w="12700">
            <a:solidFill>
              <a:srgbClr val="8FCB9B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77240" y="3977640"/>
            <a:ext cx="4663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data/Contact list ….xlsx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5623560" y="3977640"/>
            <a:ext cx="583661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Contact List, uploaded by hand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502920" y="4526280"/>
            <a:ext cx="11185855" cy="475488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02920" y="4617720"/>
            <a:ext cx="54864" cy="292608"/>
          </a:xfrm>
          <a:prstGeom prst="rect">
            <a:avLst/>
          </a:prstGeom>
          <a:solidFill>
            <a:srgbClr val="F0806A"/>
          </a:solidFill>
          <a:ln w="12700">
            <a:solidFill>
              <a:srgbClr val="F0806A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77240" y="4526280"/>
            <a:ext cx="4663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compare/compare_contacts.py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5623560" y="4526280"/>
            <a:ext cx="583661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2: the comparison script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502920" y="5074920"/>
            <a:ext cx="11185855" cy="475488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02920" y="5166360"/>
            <a:ext cx="54864" cy="292608"/>
          </a:xfrm>
          <a:prstGeom prst="rect">
            <a:avLst/>
          </a:prstGeom>
          <a:solidFill>
            <a:srgbClr val="F0806A"/>
          </a:solidFill>
          <a:ln w="12700">
            <a:solidFill>
              <a:srgbClr val="F0806A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777240" y="5074920"/>
            <a:ext cx="4663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Contact_Comparison_Report.xlsx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5623560" y="5074920"/>
            <a:ext cx="583661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result - rebuilt on every run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502920" y="5623560"/>
            <a:ext cx="11185855" cy="475488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02920" y="5715000"/>
            <a:ext cx="54864" cy="292608"/>
          </a:xfrm>
          <a:prstGeom prst="rect">
            <a:avLst/>
          </a:prstGeom>
          <a:solidFill>
            <a:srgbClr val="5B6B8C"/>
          </a:solidFill>
          <a:ln w="12700">
            <a:solidFill>
              <a:srgbClr val="5B6B8C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777240" y="5623560"/>
            <a:ext cx="4663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requirements.txt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5623560" y="5623560"/>
            <a:ext cx="583661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packages: pandas, openpyxl, matplotlib, requests, xlsxwriter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4747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0A1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.GITHUB/WORKFLOWS/PIPELINE.YML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58368"/>
            <a:ext cx="11155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happens in one run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325880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B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one run at a time - a second run waits in the queue until the first has finished.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1368735" y="64465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13232" y="2084832"/>
            <a:ext cx="0" cy="2606040"/>
          </a:xfrm>
          <a:prstGeom prst="line">
            <a:avLst/>
          </a:prstGeom>
          <a:noFill/>
          <a:ln w="19050">
            <a:solidFill>
              <a:srgbClr val="D8DEE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874520"/>
            <a:ext cx="420624" cy="420624"/>
          </a:xfrm>
          <a:prstGeom prst="ellipse">
            <a:avLst/>
          </a:prstGeom>
          <a:solidFill>
            <a:srgbClr val="5B6B8C"/>
          </a:solidFill>
          <a:ln w="12700">
            <a:solidFill>
              <a:srgbClr val="5B6B8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02920" y="18745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197864" y="1764792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out + install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4078224" y="1719072"/>
            <a:ext cx="38313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Downloads the repo, installs requirements.txt and LibreOffice (used to pre-calculate the report's formulas).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02920" y="2743200"/>
            <a:ext cx="420624" cy="420624"/>
          </a:xfrm>
          <a:prstGeom prst="ellipse">
            <a:avLst/>
          </a:prstGeom>
          <a:solidFill>
            <a:srgbClr val="E0A106"/>
          </a:solidFill>
          <a:ln w="12700">
            <a:solidFill>
              <a:srgbClr val="E0A10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02920" y="27432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1197864" y="2633472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PhantomBuster export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4078224" y="2587752"/>
            <a:ext cx="38313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Runs phantombuster/phantombuster_tableau_main.py with the PHANTOMBUSTER_API_TOKEN secret.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02920" y="3611880"/>
            <a:ext cx="420624" cy="420624"/>
          </a:xfrm>
          <a:prstGeom prst="ellipse">
            <a:avLst/>
          </a:prstGeom>
          <a:solidFill>
            <a:srgbClr val="F0806A"/>
          </a:solidFill>
          <a:ln w="12700">
            <a:solidFill>
              <a:srgbClr val="F0806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02920" y="36118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197864" y="3502152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Comparison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4078224" y="3456432"/>
            <a:ext cx="38313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Runs compare/compare_contacts.py over the whole repo; it finds the three input files by name.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02920" y="4480560"/>
            <a:ext cx="420624" cy="420624"/>
          </a:xfrm>
          <a:prstGeom prst="ellipse">
            <a:avLst/>
          </a:prstGeom>
          <a:solidFill>
            <a:srgbClr val="1F8A5B"/>
          </a:solidFill>
          <a:ln w="12700">
            <a:solidFill>
              <a:srgbClr val="1F8A5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02920" y="44805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1197864" y="4370832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Save into the repo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4078224" y="4325112"/>
            <a:ext cx="38313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Commits phantombuster/ and Contact_Comparison_Report.xlsx - only if something changed. Catches up with newer commits first, never force-pushes.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8321040" y="1783080"/>
            <a:ext cx="3364992" cy="3931920"/>
          </a:xfrm>
          <a:prstGeom prst="rect">
            <a:avLst/>
          </a:prstGeom>
          <a:solidFill>
            <a:srgbClr val="F7F9FC"/>
          </a:solidFill>
          <a:ln w="19050">
            <a:solidFill>
              <a:srgbClr val="F0806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595360" y="2039112"/>
            <a:ext cx="1362456" cy="310896"/>
          </a:xfrm>
          <a:prstGeom prst="roundRect">
            <a:avLst>
              <a:gd name="adj" fmla="val 50000"/>
            </a:avLst>
          </a:prstGeom>
          <a:solidFill>
            <a:srgbClr val="F0806A"/>
          </a:solidFill>
          <a:ln w="12700">
            <a:solidFill>
              <a:srgbClr val="F0806A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595360" y="2039112"/>
            <a:ext cx="13624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IMPORTANT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8595360" y="2542032"/>
            <a:ext cx="2816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the workbooks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8595360" y="2999232"/>
            <a:ext cx="2816352" cy="2487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700"/>
              </a:spcAft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 merges each run into the MYCF and Talent List workbooks already in the repo.</a:t>
            </a:r>
            <a:endParaRPr lang="en-US" sz="11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That's where first_seen dates and leads that left a Phantom are kept.</a:t>
            </a:r>
            <a:endParaRPr lang="en-US" sz="11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never delete those workbooks - without them the history starts over.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4747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0A1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USING THE WORKFLOW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58368"/>
            <a:ext cx="11155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Running it by hand, and uploading a new Contact List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1368735" y="64465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713232" y="1810512"/>
            <a:ext cx="0" cy="3218688"/>
          </a:xfrm>
          <a:prstGeom prst="line">
            <a:avLst/>
          </a:prstGeom>
          <a:noFill/>
          <a:ln w="19050">
            <a:solidFill>
              <a:srgbClr val="D8DE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600200"/>
            <a:ext cx="420624" cy="420624"/>
          </a:xfrm>
          <a:prstGeom prst="ellipse">
            <a:avLst/>
          </a:prstGeom>
          <a:solidFill>
            <a:srgbClr val="5B6B8C"/>
          </a:solidFill>
          <a:ln w="12700">
            <a:solidFill>
              <a:srgbClr val="5B6B8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02920" y="16002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197864" y="1490472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the Actions tab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3712464" y="1444752"/>
            <a:ext cx="401421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the repo on GitHub, click Actions at the top.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02920" y="2404872"/>
            <a:ext cx="420624" cy="420624"/>
          </a:xfrm>
          <a:prstGeom prst="ellipse">
            <a:avLst/>
          </a:prstGeom>
          <a:solidFill>
            <a:srgbClr val="5B6B8C"/>
          </a:solidFill>
          <a:ln w="12700">
            <a:solidFill>
              <a:srgbClr val="5B6B8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02920" y="240487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197864" y="2295144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Pick the workflow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3712464" y="2249424"/>
            <a:ext cx="401421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"Leads pipeline (PhantomBuster export + contact comparison)".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02920" y="3209544"/>
            <a:ext cx="420624" cy="420624"/>
          </a:xfrm>
          <a:prstGeom prst="ellipse">
            <a:avLst/>
          </a:prstGeom>
          <a:solidFill>
            <a:srgbClr val="E0A106"/>
          </a:solidFill>
          <a:ln w="12700">
            <a:solidFill>
              <a:srgbClr val="E0A10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02920" y="320954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1197864" y="3099816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workflow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3712464" y="3054096"/>
            <a:ext cx="401421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Leave "Rebuild" unticked (see right), then click the green button.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02920" y="4014216"/>
            <a:ext cx="420624" cy="420624"/>
          </a:xfrm>
          <a:prstGeom prst="ellipse">
            <a:avLst/>
          </a:prstGeom>
          <a:solidFill>
            <a:srgbClr val="E0A106"/>
          </a:solidFill>
          <a:ln w="12700">
            <a:solidFill>
              <a:srgbClr val="E0A106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02920" y="401421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1197864" y="3904488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Wait for the green ✓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3712464" y="3858768"/>
            <a:ext cx="401421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few minutes. Red ✕ = failed: click it and read the last lines (slide 12).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02920" y="4818888"/>
            <a:ext cx="420624" cy="420624"/>
          </a:xfrm>
          <a:prstGeom prst="ellipse">
            <a:avLst/>
          </a:prstGeom>
          <a:solidFill>
            <a:srgbClr val="1F8A5B"/>
          </a:solidFill>
          <a:ln w="12700">
            <a:solidFill>
              <a:srgbClr val="1F8A5B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02920" y="48188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1197864" y="470916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the report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3712464" y="4663440"/>
            <a:ext cx="401421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Contact_Comparison_Report.xlsx at the top of the repo → View raw / Download.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8183880" y="1508760"/>
            <a:ext cx="3504895" cy="2148840"/>
          </a:xfrm>
          <a:prstGeom prst="rect">
            <a:avLst/>
          </a:prstGeom>
          <a:solidFill>
            <a:srgbClr val="F7F9FC"/>
          </a:solidFill>
          <a:ln w="19050">
            <a:solidFill>
              <a:srgbClr val="8FCB9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458200" y="1764792"/>
            <a:ext cx="2066544" cy="310896"/>
          </a:xfrm>
          <a:prstGeom prst="roundRect">
            <a:avLst>
              <a:gd name="adj" fmla="val 50000"/>
            </a:avLst>
          </a:prstGeom>
          <a:solidFill>
            <a:srgbClr val="8FCB9B"/>
          </a:solidFill>
          <a:ln w="12700">
            <a:solidFill>
              <a:srgbClr val="8FCB9B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8458200" y="1764792"/>
            <a:ext cx="20665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CONTACT LIST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8458200" y="2267712"/>
            <a:ext cx="2956255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700"/>
              </a:spcAft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Upload it into data/. The file name must contain "contact" and "list".</a:t>
            </a:r>
            <a:endParaRPr lang="en-US" sz="11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Delete the old one in the same commit - two matching files gives a warning and the shortest name wins.</a:t>
            </a:r>
            <a:endParaRPr lang="en-US" sz="11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Uploading starts the workflow automatically.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8183880" y="3840480"/>
            <a:ext cx="3504895" cy="2148840"/>
          </a:xfrm>
          <a:prstGeom prst="rect">
            <a:avLst/>
          </a:prstGeom>
          <a:solidFill>
            <a:srgbClr val="F7F9FC"/>
          </a:solidFill>
          <a:ln w="19050">
            <a:solidFill>
              <a:srgbClr val="B3261E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458200" y="4096512"/>
            <a:ext cx="2871216" cy="310896"/>
          </a:xfrm>
          <a:prstGeom prst="roundRect">
            <a:avLst>
              <a:gd name="adj" fmla="val 50000"/>
            </a:avLst>
          </a:prstGeom>
          <a:solidFill>
            <a:srgbClr val="B3261E"/>
          </a:solidFill>
          <a:ln w="12700">
            <a:solidFill>
              <a:srgbClr val="B3261E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8458200" y="4096512"/>
            <a:ext cx="28712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REBUILD - ONLY IF NEEDED</a:t>
            </a:r>
            <a:endParaRPr lang="en-US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8458200" y="4599432"/>
            <a:ext cx="2956255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700"/>
              </a:spcAft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Ticking "Rebuild" throws away the stored MYCF / Talent List workbooks and rebuilds them from PhantomBuster's current results.</a:t>
            </a:r>
            <a:endParaRPr lang="en-US" sz="11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Leads that have since left a Phantom, and their first_seen dates, are then lost.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4747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0A1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 · PHANTOMBUSTER/PHANTOMBUSTER_TABLEAU_MAIN.PY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58368"/>
            <a:ext cx="11155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the PhantomBuster export works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325880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B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only downloads results - the Phantoms themselves still run on their own schedule inside PhantomBuster.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1368735" y="64465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02920" y="1783080"/>
            <a:ext cx="2624328" cy="3063240"/>
          </a:xfrm>
          <a:prstGeom prst="rect">
            <a:avLst/>
          </a:prstGeom>
          <a:solidFill>
            <a:srgbClr val="F7F9FC"/>
          </a:solidFill>
          <a:ln w="19050">
            <a:solidFill>
              <a:srgbClr val="5B6B8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2039112"/>
            <a:ext cx="1362456" cy="310896"/>
          </a:xfrm>
          <a:prstGeom prst="roundRect">
            <a:avLst>
              <a:gd name="adj" fmla="val 50000"/>
            </a:avLst>
          </a:prstGeom>
          <a:solidFill>
            <a:srgbClr val="5B6B8C"/>
          </a:solidFill>
          <a:ln w="12700">
            <a:solidFill>
              <a:srgbClr val="5B6B8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" y="2039112"/>
            <a:ext cx="13624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FETCH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2542032"/>
            <a:ext cx="2075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Latest results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2999232"/>
            <a:ext cx="2075688" cy="1618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Asks the PhantomBuster API where each Phantom stores its results.</a:t>
            </a:r>
            <a:endParaRPr lang="en-US" sz="110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Downloads its result file (result.json / result.csv).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310128" y="1783080"/>
            <a:ext cx="2624328" cy="3063240"/>
          </a:xfrm>
          <a:prstGeom prst="rect">
            <a:avLst/>
          </a:prstGeom>
          <a:solidFill>
            <a:srgbClr val="F7F9FC"/>
          </a:solidFill>
          <a:ln w="19050">
            <a:solidFill>
              <a:srgbClr val="E0A10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584448" y="2039112"/>
            <a:ext cx="1362456" cy="310896"/>
          </a:xfrm>
          <a:prstGeom prst="roundRect">
            <a:avLst>
              <a:gd name="adj" fmla="val 50000"/>
            </a:avLst>
          </a:prstGeom>
          <a:solidFill>
            <a:srgbClr val="E0A106"/>
          </a:solidFill>
          <a:ln w="12700">
            <a:solidFill>
              <a:srgbClr val="E0A10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584448" y="2039112"/>
            <a:ext cx="13624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CLEAN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3584448" y="2542032"/>
            <a:ext cx="2075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 spellings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3584448" y="2999232"/>
            <a:ext cx="2075688" cy="1618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Degrees and locations are mapped with Mappings Final.xlsx.</a:t>
            </a:r>
            <a:endParaRPr lang="en-US" sz="110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Location is split into City and Country.</a:t>
            </a:r>
            <a:endParaRPr lang="en-US" sz="110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Values with no mapping → unmapped_report.csv.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117336" y="1783080"/>
            <a:ext cx="2624328" cy="3063240"/>
          </a:xfrm>
          <a:prstGeom prst="rect">
            <a:avLst/>
          </a:prstGeom>
          <a:solidFill>
            <a:srgbClr val="F7F9FC"/>
          </a:solidFill>
          <a:ln w="19050">
            <a:solidFill>
              <a:srgbClr val="6FA8D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391656" y="2039112"/>
            <a:ext cx="1664208" cy="310896"/>
          </a:xfrm>
          <a:prstGeom prst="roundRect">
            <a:avLst>
              <a:gd name="adj" fmla="val 50000"/>
            </a:avLst>
          </a:prstGeom>
          <a:solidFill>
            <a:srgbClr val="6FA8DC"/>
          </a:solidFill>
          <a:ln w="12700">
            <a:solidFill>
              <a:srgbClr val="6FA8DC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391656" y="2039112"/>
            <a:ext cx="16642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· IDENTIFY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6391656" y="2542032"/>
            <a:ext cx="2075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key per lead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6391656" y="2999232"/>
            <a:ext cx="2075688" cy="1618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= the LinkedIn profile URL (cleaned up).</a:t>
            </a:r>
            <a:endParaRPr lang="en-US" sz="110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URL? A fingerprint of the row instead.</a:t>
            </a:r>
            <a:endParaRPr lang="en-US" sz="110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Repeats within one download are dropped.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924544" y="1783080"/>
            <a:ext cx="2624328" cy="3063240"/>
          </a:xfrm>
          <a:prstGeom prst="rect">
            <a:avLst/>
          </a:prstGeom>
          <a:solidFill>
            <a:srgbClr val="F7F9FC"/>
          </a:solidFill>
          <a:ln w="19050">
            <a:solidFill>
              <a:srgbClr val="8FCB9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198864" y="2039112"/>
            <a:ext cx="1362456" cy="310896"/>
          </a:xfrm>
          <a:prstGeom prst="roundRect">
            <a:avLst>
              <a:gd name="adj" fmla="val 50000"/>
            </a:avLst>
          </a:prstGeom>
          <a:solidFill>
            <a:srgbClr val="8FCB9B"/>
          </a:solidFill>
          <a:ln w="12700">
            <a:solidFill>
              <a:srgbClr val="8FCB9B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9198864" y="2039112"/>
            <a:ext cx="13624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· MERGE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9198864" y="2542032"/>
            <a:ext cx="2075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Update, never delete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9198864" y="2999232"/>
            <a:ext cx="2075688" cy="1618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lead → added, first_seen = today.</a:t>
            </a:r>
            <a:endParaRPr lang="en-US" sz="110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Known lead → non-empty fields refreshed, last_seen = today.</a:t>
            </a:r>
            <a:endParaRPr lang="en-US" sz="110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Gone from the Phantom → kept, last_seen stops.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02920" y="5120640"/>
            <a:ext cx="11185855" cy="566928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02920" y="5212080"/>
            <a:ext cx="54864" cy="384048"/>
          </a:xfrm>
          <a:prstGeom prst="rect">
            <a:avLst/>
          </a:prstGeom>
          <a:solidFill>
            <a:srgbClr val="1F8A5B"/>
          </a:solidFill>
          <a:ln w="12700">
            <a:solidFill>
              <a:srgbClr val="1F8A5B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77240" y="5120640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 by design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3154680" y="5120640"/>
            <a:ext cx="83054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Nothing is written unless every Phantom was fetched successfully, and an empty result never wipes a stored sheet.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4747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0A1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 · PHANTOMBUSTER/PHANTOMBUSTER_TABLEAU_MAIN.PY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58368"/>
            <a:ext cx="11155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Phantom fills which sheet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325880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B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 in the WORKBOOKS list near the top of the script - change an agent ID there if a Phantom is ever replaced.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1368735" y="64465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02920" y="1783080"/>
            <a:ext cx="11185855" cy="658368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874520"/>
            <a:ext cx="54864" cy="475488"/>
          </a:xfrm>
          <a:prstGeom prst="rect">
            <a:avLst/>
          </a:prstGeom>
          <a:solidFill>
            <a:srgbClr val="6FA8DC"/>
          </a:solidFill>
          <a:ln w="12700">
            <a:solidFill>
              <a:srgbClr val="6FA8D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" y="1783080"/>
            <a:ext cx="4206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MYCF.xlsx → MYCF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5166360" y="1783080"/>
            <a:ext cx="2377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6B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3463420412076036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7726680" y="1783080"/>
            <a:ext cx="37334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Leads from MYCF - used by the comparison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02920" y="2551176"/>
            <a:ext cx="11185855" cy="658368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02920" y="2642616"/>
            <a:ext cx="54864" cy="475488"/>
          </a:xfrm>
          <a:prstGeom prst="rect">
            <a:avLst/>
          </a:prstGeom>
          <a:solidFill>
            <a:srgbClr val="6FA8DC"/>
          </a:solidFill>
          <a:ln w="12700">
            <a:solidFill>
              <a:srgbClr val="6FA8D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77240" y="2551176"/>
            <a:ext cx="4206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Talent List.xlsx → Direct Applications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5166360" y="2551176"/>
            <a:ext cx="2377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6B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3777858886218670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7726680" y="2551176"/>
            <a:ext cx="37334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 applications - used by the comparison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02920" y="3319272"/>
            <a:ext cx="11185855" cy="658368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02920" y="3410712"/>
            <a:ext cx="54864" cy="475488"/>
          </a:xfrm>
          <a:prstGeom prst="rect">
            <a:avLst/>
          </a:prstGeom>
          <a:solidFill>
            <a:srgbClr val="6FA8DC"/>
          </a:solidFill>
          <a:ln w="12700">
            <a:solidFill>
              <a:srgbClr val="6FA8DC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77240" y="3319272"/>
            <a:ext cx="4206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Talent List.xlsx → Open Applications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5166360" y="3319272"/>
            <a:ext cx="2377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6B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1498687002457604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7726680" y="3319272"/>
            <a:ext cx="37334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applications - used by the comparison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02920" y="4087368"/>
            <a:ext cx="11185855" cy="658368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02920" y="4178808"/>
            <a:ext cx="54864" cy="475488"/>
          </a:xfrm>
          <a:prstGeom prst="rect">
            <a:avLst/>
          </a:prstGeom>
          <a:solidFill>
            <a:srgbClr val="5B6B8C"/>
          </a:solidFill>
          <a:ln w="12700">
            <a:solidFill>
              <a:srgbClr val="5B6B8C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77240" y="4087368"/>
            <a:ext cx="4206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YES!Delft Linkedin Followers.xlsx → Blad1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5166360" y="4087368"/>
            <a:ext cx="2377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6B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4167655640536198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7726680" y="4087368"/>
            <a:ext cx="37334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LinkedIn followers - for Tableau only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502920" y="4937760"/>
            <a:ext cx="11185855" cy="54864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02920" y="5029200"/>
            <a:ext cx="54864" cy="365760"/>
          </a:xfrm>
          <a:prstGeom prst="rect">
            <a:avLst/>
          </a:prstGeom>
          <a:solidFill>
            <a:srgbClr val="E0A106"/>
          </a:solidFill>
          <a:ln w="12700">
            <a:solidFill>
              <a:srgbClr val="E0A106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77240" y="493776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 columns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3611880" y="4937760"/>
            <a:ext cx="78482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row also gets lead_key, first_seen, last_seen and source_list (= the sheet name). The comparison shows source_list as "Source List".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502920" y="5577840"/>
            <a:ext cx="11185855" cy="54864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02920" y="5669280"/>
            <a:ext cx="54864" cy="365760"/>
          </a:xfrm>
          <a:prstGeom prst="rect">
            <a:avLst/>
          </a:prstGeom>
          <a:solidFill>
            <a:srgbClr val="F0806A"/>
          </a:solidFill>
          <a:ln w="12700">
            <a:solidFill>
              <a:srgbClr val="F0806A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777240" y="557784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Renamed Phantom column?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3611880" y="5577840"/>
            <a:ext cx="78482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 it back with rename={…} on that sheet's SheetConfig. Run the script with --inspect to see which columns a Phantom currently gives.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4747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0A1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 · COMPARE/COMPARE_CONTACTS.PY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58368"/>
            <a:ext cx="11155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comparison reads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325880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B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searches the whole repo for the three files by name, then opens exactly these sheets and columns - everything else is ignored.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1368735" y="64465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02920" y="1828800"/>
            <a:ext cx="11185855" cy="420624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1828800"/>
            <a:ext cx="2651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 (found by name)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3474720" y="1828800"/>
            <a:ext cx="2468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 must contain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6126480" y="1828800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Sheets read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8503920" y="1828800"/>
            <a:ext cx="313913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Columns used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02920" y="2249424"/>
            <a:ext cx="11185855" cy="566928"/>
          </a:xfrm>
          <a:prstGeom prst="rect">
            <a:avLst/>
          </a:prstGeom>
          <a:solidFill>
            <a:srgbClr val="F7F9FC"/>
          </a:solidFill>
          <a:ln w="6350">
            <a:solidFill>
              <a:srgbClr val="D8DEE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0080" y="2249424"/>
            <a:ext cx="2606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Contact list (data/)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3474720" y="2249424"/>
            <a:ext cx="2423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"contact" and "list"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6126480" y="2249424"/>
            <a:ext cx="2148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 total list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8503920" y="2249424"/>
            <a:ext cx="3093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Name1, Name 2, mail, company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02920" y="2816352"/>
            <a:ext cx="11185855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0080" y="2816352"/>
            <a:ext cx="2606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MYCF.xlsx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3474720" y="2816352"/>
            <a:ext cx="2423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"mycf"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6126480" y="2816352"/>
            <a:ext cx="2148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MYCF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8503920" y="2816352"/>
            <a:ext cx="3093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firstName, lastName, Email*, Phone, companyName, linkedinHeadline, source_list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02920" y="3383280"/>
            <a:ext cx="11185855" cy="566928"/>
          </a:xfrm>
          <a:prstGeom prst="rect">
            <a:avLst/>
          </a:prstGeom>
          <a:solidFill>
            <a:srgbClr val="F7F9FC"/>
          </a:solidFill>
          <a:ln w="6350">
            <a:solidFill>
              <a:srgbClr val="D8DEEC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40080" y="3383280"/>
            <a:ext cx="2606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Talent List.xlsx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3474720" y="3383280"/>
            <a:ext cx="2423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"talent"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6126480" y="3383280"/>
            <a:ext cx="2148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Direct Applications, Open Applications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8503920" y="3383280"/>
            <a:ext cx="3093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same as MYCF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02920" y="4270248"/>
            <a:ext cx="11185855" cy="50292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02920" y="4361688"/>
            <a:ext cx="54864" cy="320040"/>
          </a:xfrm>
          <a:prstGeom prst="rect">
            <a:avLst/>
          </a:prstGeom>
          <a:solidFill>
            <a:srgbClr val="E0A106"/>
          </a:solidFill>
          <a:ln w="12700">
            <a:solidFill>
              <a:srgbClr val="E0A106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77240" y="4270248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"removed contacts"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3154680" y="4270248"/>
            <a:ext cx="83054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Deliberately not read, so a removed contact shows as new. Switch on with INCLUDE_REMOVED_CONTACTS = True at the top of the script.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502920" y="4855464"/>
            <a:ext cx="11185855" cy="50292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02920" y="4946904"/>
            <a:ext cx="54864" cy="320040"/>
          </a:xfrm>
          <a:prstGeom prst="rect">
            <a:avLst/>
          </a:prstGeom>
          <a:solidFill>
            <a:srgbClr val="6FA8DC"/>
          </a:solidFill>
          <a:ln w="12700">
            <a:solidFill>
              <a:srgbClr val="6FA8DC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777240" y="4855464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Email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3154680" y="4855464"/>
            <a:ext cx="83054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Older exports only have professionalEmails (a list stored as text) - the comparison falls back to that.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502920" y="5440680"/>
            <a:ext cx="11185855" cy="50292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02920" y="5532120"/>
            <a:ext cx="54864" cy="320040"/>
          </a:xfrm>
          <a:prstGeom prst="rect">
            <a:avLst/>
          </a:prstGeom>
          <a:solidFill>
            <a:srgbClr val="B3261E"/>
          </a:solidFill>
          <a:ln w="12700">
            <a:solidFill>
              <a:srgbClr val="B3261E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777240" y="544068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Must exist</a:t>
            </a:r>
            <a:endParaRPr lang="en-US" sz="1300" dirty="0"/>
          </a:p>
        </p:txBody>
      </p:sp>
      <p:sp>
        <p:nvSpPr>
          <p:cNvPr id="37" name="Text 35"/>
          <p:cNvSpPr txBox="1"/>
          <p:nvPr/>
        </p:nvSpPr>
        <p:spPr>
          <a:xfrm>
            <a:off x="3154680" y="5440680"/>
            <a:ext cx="83054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Name1, Name 2, firstName and lastName - if one is missing the comparison stops with an error.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4747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0A1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 · COMPARE/COMPARE_CONTACTS.PY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58368"/>
            <a:ext cx="11155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two records become one person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325880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B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Careful by design: only certain matches are merged automatically.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1368735" y="64465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02920" y="1783080"/>
            <a:ext cx="5455768" cy="2834640"/>
          </a:xfrm>
          <a:prstGeom prst="rect">
            <a:avLst/>
          </a:prstGeom>
          <a:solidFill>
            <a:srgbClr val="F7F9FC"/>
          </a:solidFill>
          <a:ln w="19050">
            <a:solidFill>
              <a:srgbClr val="8FCB9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2039112"/>
            <a:ext cx="2468880" cy="310896"/>
          </a:xfrm>
          <a:prstGeom prst="roundRect">
            <a:avLst>
              <a:gd name="adj" fmla="val 50000"/>
            </a:avLst>
          </a:prstGeom>
          <a:solidFill>
            <a:srgbClr val="8FCB9B"/>
          </a:solidFill>
          <a:ln w="12700">
            <a:solidFill>
              <a:srgbClr val="8FCB9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" y="2039112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MERGED AUTOMATICALLY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2542032"/>
            <a:ext cx="4907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Exact matches only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2999232"/>
            <a:ext cx="4907128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e-mail address (upper/lower case ignored).</a:t>
            </a:r>
            <a:endParaRPr lang="en-US" sz="110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full name, ignoring accents, punctuation and extra spaces.</a:t>
            </a:r>
            <a:endParaRPr lang="en-US" sz="110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 across all three lists at once - someone in MYCF and the Talent List shows up once, not twice.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233008" y="1783080"/>
            <a:ext cx="5455768" cy="2834640"/>
          </a:xfrm>
          <a:prstGeom prst="rect">
            <a:avLst/>
          </a:prstGeom>
          <a:solidFill>
            <a:srgbClr val="F7F9FC"/>
          </a:solidFill>
          <a:ln w="19050">
            <a:solidFill>
              <a:srgbClr val="E0A10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507328" y="2039112"/>
            <a:ext cx="2569464" cy="310896"/>
          </a:xfrm>
          <a:prstGeom prst="roundRect">
            <a:avLst>
              <a:gd name="adj" fmla="val 50000"/>
            </a:avLst>
          </a:prstGeom>
          <a:solidFill>
            <a:srgbClr val="E0A106"/>
          </a:solidFill>
          <a:ln w="12700">
            <a:solidFill>
              <a:srgbClr val="E0A10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507328" y="2039112"/>
            <a:ext cx="25694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FLAGGED, NEVER MERGED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6507328" y="2542032"/>
            <a:ext cx="4907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Possible duplicates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6507328" y="2999232"/>
            <a:ext cx="4907128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first name, in two different lists, and…</a:t>
            </a:r>
            <a:endParaRPr lang="en-US" sz="110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…a last name that is an initial of the other ("Sara A." vs "Sara Aldoas" → 0.95), or…</a:t>
            </a:r>
            <a:endParaRPr lang="en-US" sz="110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…last names at least 82% alike (a spelling variant).</a:t>
            </a:r>
            <a:endParaRPr lang="en-US" sz="110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Listed with a confidence score for a person to check.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02920" y="4892040"/>
            <a:ext cx="11185855" cy="530352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02920" y="4983480"/>
            <a:ext cx="54864" cy="347472"/>
          </a:xfrm>
          <a:prstGeom prst="rect">
            <a:avLst/>
          </a:prstGeom>
          <a:solidFill>
            <a:srgbClr val="6FA8DC"/>
          </a:solidFill>
          <a:ln w="12700">
            <a:solidFill>
              <a:srgbClr val="6FA8DC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77240" y="4892040"/>
            <a:ext cx="2194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so careful?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3154680" y="4892040"/>
            <a:ext cx="830549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Fuzzy matches can chain: A looks like B, B looks like C, and suddenly A and C are one person. Exact merges can't do that.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02920" y="5513832"/>
            <a:ext cx="11185855" cy="530352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02920" y="5605272"/>
            <a:ext cx="54864" cy="347472"/>
          </a:xfrm>
          <a:prstGeom prst="rect">
            <a:avLst/>
          </a:prstGeom>
          <a:solidFill>
            <a:srgbClr val="5B6B8C"/>
          </a:solidFill>
          <a:ln w="12700">
            <a:solidFill>
              <a:srgbClr val="5B6B8C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77240" y="5513832"/>
            <a:ext cx="2194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Tuning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3154680" y="5513832"/>
            <a:ext cx="830549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FUZZY_THRESHOLD = 0.82 at the top of the script sets how alike last names must be to get flagged.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4747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0A1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CONTACT_COMPARISON_REPORT.XLSX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58368"/>
            <a:ext cx="11155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What's in the report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1368735" y="64465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1417320"/>
            <a:ext cx="11185855" cy="566928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508760"/>
            <a:ext cx="54864" cy="38404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1417320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Overview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3886200" y="1417320"/>
            <a:ext cx="75739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working list: every unique person from MYCF and/or the Talent List with a colour-coded Status. Totals at the top are live formulas.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02920" y="2075688"/>
            <a:ext cx="11185855" cy="566928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2920" y="2167128"/>
            <a:ext cx="54864" cy="384048"/>
          </a:xfrm>
          <a:prstGeom prst="rect">
            <a:avLst/>
          </a:prstGeom>
          <a:solidFill>
            <a:srgbClr val="E0A106"/>
          </a:solidFill>
          <a:ln w="12700">
            <a:solidFill>
              <a:srgbClr val="E0A10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77240" y="2075688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3886200" y="2075688"/>
            <a:ext cx="75739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Charts: size of each source, possible duplicates per pair of lists, and a Venn diagram of the overlap (circle sizes are illustrative).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02920" y="2734056"/>
            <a:ext cx="11185855" cy="566928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02920" y="2825496"/>
            <a:ext cx="54864" cy="384048"/>
          </a:xfrm>
          <a:prstGeom prst="rect">
            <a:avLst/>
          </a:prstGeom>
          <a:solidFill>
            <a:srgbClr val="F0806A"/>
          </a:solidFill>
          <a:ln w="12700">
            <a:solidFill>
              <a:srgbClr val="F0806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77240" y="2734056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Possible Duplicates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3886200" y="2734056"/>
            <a:ext cx="75739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Near-matches across two different lists, with a confidence score - check these by hand.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02920" y="3392424"/>
            <a:ext cx="11185855" cy="566928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02920" y="3483864"/>
            <a:ext cx="54864" cy="384048"/>
          </a:xfrm>
          <a:prstGeom prst="rect">
            <a:avLst/>
          </a:prstGeom>
          <a:solidFill>
            <a:srgbClr val="5B6B8C"/>
          </a:solidFill>
          <a:ln w="12700">
            <a:solidFill>
              <a:srgbClr val="5B6B8C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77240" y="3392424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Contacts · MYCF · Talent List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3886200" y="3392424"/>
            <a:ext cx="75739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Cleaned copies of the three inputs, side by side, for reference.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502920" y="41605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 in the Overview tab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02920" y="4553712"/>
            <a:ext cx="5120640" cy="365760"/>
          </a:xfrm>
          <a:prstGeom prst="rect">
            <a:avLst/>
          </a:prstGeom>
          <a:solidFill>
            <a:srgbClr val="1F77B4"/>
          </a:solidFill>
          <a:ln w="12700">
            <a:solidFill>
              <a:srgbClr val="1F77B4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40080" y="4553712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— in both MYCF &amp; Talent List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5852160" y="4553712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Look at these first: two channels, no contact yet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02920" y="4983480"/>
            <a:ext cx="5120640" cy="365760"/>
          </a:xfrm>
          <a:prstGeom prst="rect">
            <a:avLst/>
          </a:prstGeom>
          <a:solidFill>
            <a:srgbClr val="F5B041"/>
          </a:solidFill>
          <a:ln w="12700">
            <a:solidFill>
              <a:srgbClr val="F5B041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40080" y="49834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— MYCF only  /  New — Talent List only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5852160" y="4983480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a contact yet, seen in one list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02920" y="5413248"/>
            <a:ext cx="5120640" cy="36576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40080" y="541324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Already Known — found in MYCF &amp; Talent List</a:t>
            </a:r>
            <a:endParaRPr lang="en-US" sz="1050" dirty="0"/>
          </a:p>
        </p:txBody>
      </p:sp>
      <p:sp>
        <p:nvSpPr>
          <p:cNvPr id="30" name="Text 28"/>
          <p:cNvSpPr txBox="1"/>
          <p:nvPr/>
        </p:nvSpPr>
        <p:spPr>
          <a:xfrm>
            <a:off x="5852160" y="5413248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Already a contact, and in both lists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02920" y="5843016"/>
            <a:ext cx="5120640" cy="365760"/>
          </a:xfrm>
          <a:prstGeom prst="rect">
            <a:avLst/>
          </a:prstGeom>
          <a:solidFill>
            <a:srgbClr val="A9DFBF"/>
          </a:solidFill>
          <a:ln w="12700">
            <a:solidFill>
              <a:srgbClr val="A9DFBF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40080" y="5843016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Already Known — found in MYCF / in Talent List</a:t>
            </a:r>
            <a:endParaRPr lang="en-US" sz="1050" dirty="0"/>
          </a:p>
        </p:txBody>
      </p:sp>
      <p:sp>
        <p:nvSpPr>
          <p:cNvPr id="33" name="Text 31"/>
          <p:cNvSpPr txBox="1"/>
          <p:nvPr/>
        </p:nvSpPr>
        <p:spPr>
          <a:xfrm>
            <a:off x="5852160" y="5843016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Already a contact, in one list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4747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0A1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SETUP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58368"/>
            <a:ext cx="11155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Secrets and settings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1368735" y="64465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1417320"/>
            <a:ext cx="5455768" cy="2697480"/>
          </a:xfrm>
          <a:prstGeom prst="rect">
            <a:avLst/>
          </a:prstGeom>
          <a:solidFill>
            <a:srgbClr val="F7F9FC"/>
          </a:solidFill>
          <a:ln w="19050">
            <a:solidFill>
              <a:srgbClr val="E0A10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1673352"/>
            <a:ext cx="2167128" cy="310896"/>
          </a:xfrm>
          <a:prstGeom prst="roundRect">
            <a:avLst>
              <a:gd name="adj" fmla="val 50000"/>
            </a:avLst>
          </a:prstGeom>
          <a:solidFill>
            <a:srgbClr val="E0A106"/>
          </a:solidFill>
          <a:ln w="12700">
            <a:solidFill>
              <a:srgbClr val="E0A10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1673352"/>
            <a:ext cx="21671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REPOSITORY SECRET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176272"/>
            <a:ext cx="4907128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700"/>
              </a:spcAft>
              <a:buNone/>
            </a:pPr>
            <a:r>
              <a:rPr lang="en-US" sz="1100" b="1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PHANTOMBUSTER_API_TOKEN</a:t>
            </a:r>
            <a:pPr indent="0" marL="0">
              <a:spcAft>
                <a:spcPts val="700"/>
              </a:spcAft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the only secret. Find the key in PhantomBuster → Workspace settings → API keys.</a:t>
            </a:r>
            <a:endParaRPr lang="en-US" sz="11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Settings → Secrets and variables → Actions → New repository secret. A saved secret can't be viewed again, only replaced.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3611880"/>
            <a:ext cx="49071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B6B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Workflow permissions: Settings → Actions → General → Read and write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233008" y="1417320"/>
            <a:ext cx="5455768" cy="2697480"/>
          </a:xfrm>
          <a:prstGeom prst="rect">
            <a:avLst/>
          </a:prstGeom>
          <a:solidFill>
            <a:srgbClr val="F7F9FC"/>
          </a:solidFill>
          <a:ln w="19050">
            <a:solidFill>
              <a:srgbClr val="6FA8D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07328" y="1673352"/>
            <a:ext cx="3877056" cy="310896"/>
          </a:xfrm>
          <a:prstGeom prst="roundRect">
            <a:avLst>
              <a:gd name="adj" fmla="val 50000"/>
            </a:avLst>
          </a:prstGeom>
          <a:solidFill>
            <a:srgbClr val="6FA8DC"/>
          </a:solidFill>
          <a:ln w="12700">
            <a:solidFill>
              <a:srgbClr val="6FA8D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507328" y="1673352"/>
            <a:ext cx="38770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SETTINGS AT THE TOP OF THE SCRIPTS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6507328" y="2176272"/>
            <a:ext cx="4907128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700"/>
              </a:spcAft>
              <a:buNone/>
            </a:pPr>
            <a:r>
              <a:rPr lang="en-US" sz="1100" b="1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WORKBOOKS</a:t>
            </a:r>
            <a:pPr indent="0" marL="0">
              <a:spcAft>
                <a:spcPts val="700"/>
              </a:spcAft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(export) - which Phantom (agent ID) fills which workbook and sheet</a:t>
            </a:r>
            <a:endParaRPr lang="en-US" sz="11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100" b="1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INCLUDE_REMOVED_CONTACTS</a:t>
            </a:r>
            <a:pPr indent="0" marL="0">
              <a:spcAft>
                <a:spcPts val="700"/>
              </a:spcAft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(comparison) - False: removed contacts count as new</a:t>
            </a:r>
            <a:endParaRPr lang="en-US" sz="11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100" b="1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FUZZY_THRESHOLD</a:t>
            </a:r>
            <a:pPr indent="0" marL="0">
              <a:spcAft>
                <a:spcPts val="700"/>
              </a:spcAft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(comparison) - 0.82: how alike last names must be to be flagged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6507328" y="3611880"/>
            <a:ext cx="49071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B6B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 the value and commit - the next run uses it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02920" y="4343400"/>
            <a:ext cx="11185855" cy="18745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77240" y="44805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A1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it on your own computer (from the repo root):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777240" y="4800600"/>
            <a:ext cx="106372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 install -r requirements.txt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phantombuster/phantombuster_tableau_main.py --inspect   # show a Phantom's columns, write nothing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phantombuster/phantombuster_tableau_main.py            # the normal export (needs PHANTOMBUSTER_API_TOKEN)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compare/compare_contacts.py --repo-root . --output Contact_Comparison_Report.xlsx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777240" y="5870448"/>
            <a:ext cx="106372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7CC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--no-recalc to the comparison if LibreOffice isn't installed; Excel calculates the formulas when you open the file.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4747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0A1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 REFERENCE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58368"/>
            <a:ext cx="11155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something looks wrong, check here first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325880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B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the failed run, click the red ✕ step and read the last lines - they usually say exactly what's wrong.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1368735" y="64465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02920" y="1737360"/>
            <a:ext cx="11185855" cy="493776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828800"/>
            <a:ext cx="54864" cy="310896"/>
          </a:xfrm>
          <a:prstGeom prst="rect">
            <a:avLst/>
          </a:prstGeom>
          <a:solidFill>
            <a:srgbClr val="B3261E"/>
          </a:solidFill>
          <a:ln w="12700">
            <a:solidFill>
              <a:srgbClr val="B3261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" y="1737360"/>
            <a:ext cx="4114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"No module named 'requests'"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5074920" y="1737360"/>
            <a:ext cx="638525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requirements.txt is out of date. It needs: pandas, openpyxl, matplotlib, requests, xlsxwriter.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02920" y="2304288"/>
            <a:ext cx="11185855" cy="493776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02920" y="2395728"/>
            <a:ext cx="54864" cy="310896"/>
          </a:xfrm>
          <a:prstGeom prst="rect">
            <a:avLst/>
          </a:prstGeom>
          <a:solidFill>
            <a:srgbClr val="B3261E"/>
          </a:solidFill>
          <a:ln w="12700">
            <a:solidFill>
              <a:srgbClr val="B3261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77240" y="2304288"/>
            <a:ext cx="4114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"Missing environment variable: PHANTOMBUSTER_API_TOKEN"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5074920" y="2304288"/>
            <a:ext cx="638525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secret isn't set (or is named differently) - see slide 11.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02920" y="2871216"/>
            <a:ext cx="11185855" cy="493776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02920" y="2962656"/>
            <a:ext cx="54864" cy="310896"/>
          </a:xfrm>
          <a:prstGeom prst="rect">
            <a:avLst/>
          </a:prstGeom>
          <a:solidFill>
            <a:srgbClr val="F0806A"/>
          </a:solidFill>
          <a:ln w="12700">
            <a:solidFill>
              <a:srgbClr val="F0806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77240" y="2871216"/>
            <a:ext cx="4114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"no result file found for agent …"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5074920" y="2871216"/>
            <a:ext cx="638525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Phantom saves under another file name: set result_file on that SheetConfig. "returned no orgS3Folder" = it never finished a run.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02920" y="3438144"/>
            <a:ext cx="11185855" cy="493776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02920" y="3529584"/>
            <a:ext cx="54864" cy="310896"/>
          </a:xfrm>
          <a:prstGeom prst="rect">
            <a:avLst/>
          </a:prstGeom>
          <a:solidFill>
            <a:srgbClr val="F0806A"/>
          </a:solidFill>
          <a:ln w="12700">
            <a:solidFill>
              <a:srgbClr val="F0806A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77240" y="3438144"/>
            <a:ext cx="4114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"no profile URL column found"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5074920" y="3438144"/>
            <a:ext cx="638525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Phantom renamed its LinkedIn URL column: add the new name to key_columns on that SheetConfig.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02920" y="4005072"/>
            <a:ext cx="11185855" cy="493776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02920" y="4096512"/>
            <a:ext cx="54864" cy="310896"/>
          </a:xfrm>
          <a:prstGeom prst="rect">
            <a:avLst/>
          </a:prstGeom>
          <a:solidFill>
            <a:srgbClr val="E0A106"/>
          </a:solidFill>
          <a:ln w="12700">
            <a:solidFill>
              <a:srgbClr val="E0A106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77240" y="4005072"/>
            <a:ext cx="4114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"Could not find a file for: contact list"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5074920" y="4005072"/>
            <a:ext cx="638525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file name in the repo contains both "contact" and "list". Check the upload in data/.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02920" y="4572000"/>
            <a:ext cx="11185855" cy="493776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02920" y="4663440"/>
            <a:ext cx="54864" cy="310896"/>
          </a:xfrm>
          <a:prstGeom prst="rect">
            <a:avLst/>
          </a:prstGeom>
          <a:solidFill>
            <a:srgbClr val="E0A106"/>
          </a:solidFill>
          <a:ln w="12700">
            <a:solidFill>
              <a:srgbClr val="E0A106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77240" y="4572000"/>
            <a:ext cx="4114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"WARNING: multiple files match"</a:t>
            </a:r>
            <a:endParaRPr lang="en-US" sz="1150" dirty="0"/>
          </a:p>
        </p:txBody>
      </p:sp>
      <p:sp>
        <p:nvSpPr>
          <p:cNvPr id="29" name="Text 27"/>
          <p:cNvSpPr txBox="1"/>
          <p:nvPr/>
        </p:nvSpPr>
        <p:spPr>
          <a:xfrm>
            <a:off x="5074920" y="4572000"/>
            <a:ext cx="638525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old copy is still in the repo - delete it so only one Contact List (etc.) remains.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502920" y="5138928"/>
            <a:ext cx="11185855" cy="493776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02920" y="5230368"/>
            <a:ext cx="54864" cy="310896"/>
          </a:xfrm>
          <a:prstGeom prst="rect">
            <a:avLst/>
          </a:prstGeom>
          <a:solidFill>
            <a:srgbClr val="6FA8DC"/>
          </a:solidFill>
          <a:ln w="12700">
            <a:solidFill>
              <a:srgbClr val="6FA8DC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777240" y="5138928"/>
            <a:ext cx="4114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"'str' object has no attribute 'fillna'"</a:t>
            </a:r>
            <a:endParaRPr lang="en-US" sz="1150" dirty="0"/>
          </a:p>
        </p:txBody>
      </p:sp>
      <p:sp>
        <p:nvSpPr>
          <p:cNvPr id="33" name="Text 31"/>
          <p:cNvSpPr txBox="1"/>
          <p:nvPr/>
        </p:nvSpPr>
        <p:spPr>
          <a:xfrm>
            <a:off x="5074920" y="5138928"/>
            <a:ext cx="638525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Name1 / Name 2 or firstName / lastName is missing - the Contact List or a Phantom changed its headers (slide 8).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02920" y="5705856"/>
            <a:ext cx="11185855" cy="493776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02920" y="5797296"/>
            <a:ext cx="54864" cy="310896"/>
          </a:xfrm>
          <a:prstGeom prst="rect">
            <a:avLst/>
          </a:prstGeom>
          <a:solidFill>
            <a:srgbClr val="5B6B8C"/>
          </a:solidFill>
          <a:ln w="12700">
            <a:solidFill>
              <a:srgbClr val="5B6B8C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777240" y="5705856"/>
            <a:ext cx="4114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"Push failed after 3 attempts"</a:t>
            </a:r>
            <a:endParaRPr lang="en-US" sz="1150" dirty="0"/>
          </a:p>
        </p:txBody>
      </p:sp>
      <p:sp>
        <p:nvSpPr>
          <p:cNvPr id="37" name="Text 35"/>
          <p:cNvSpPr txBox="1"/>
          <p:nvPr/>
        </p:nvSpPr>
        <p:spPr>
          <a:xfrm>
            <a:off x="5074920" y="5705856"/>
            <a:ext cx="638525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repo kept changing during the run. Just run the workflow again.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Contact List Comparison</dc:title>
  <dc:subject>PptxGenJS Presentation</dc:subject>
  <dc:creator>PptxGenJS</dc:creator>
  <cp:lastModifiedBy>PptxGenJS</cp:lastModifiedBy>
  <cp:revision>1</cp:revision>
  <dcterms:created xsi:type="dcterms:W3CDTF">2026-09-30T14:11:43Z</dcterms:created>
  <dcterms:modified xsi:type="dcterms:W3CDTF">2026-09-30T14:11:43Z</dcterms:modified>
</cp:coreProperties>
</file>